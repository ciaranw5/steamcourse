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1"/>
    <p:sldMasterId id="2147483655" r:id="rId2"/>
  </p:sldMasterIdLst>
  <p:notesMasterIdLst>
    <p:notesMasterId r:id="rId27"/>
  </p:notesMasterIdLst>
  <p:handoutMasterIdLst>
    <p:handoutMasterId r:id="rId28"/>
  </p:handoutMasterIdLst>
  <p:sldIdLst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73" r:id="rId14"/>
    <p:sldId id="274" r:id="rId15"/>
    <p:sldId id="275" r:id="rId16"/>
    <p:sldId id="276" r:id="rId17"/>
    <p:sldId id="277" r:id="rId18"/>
    <p:sldId id="281" r:id="rId19"/>
    <p:sldId id="282" r:id="rId20"/>
    <p:sldId id="283" r:id="rId21"/>
    <p:sldId id="284" r:id="rId22"/>
    <p:sldId id="285" r:id="rId23"/>
    <p:sldId id="278" r:id="rId24"/>
    <p:sldId id="279" r:id="rId25"/>
    <p:sldId id="280" r:id="rId26"/>
  </p:sldIdLst>
  <p:sldSz cx="12192000" cy="6858000"/>
  <p:notesSz cx="6858000" cy="9945688"/>
  <p:embeddedFontLst>
    <p:embeddedFont>
      <p:font typeface="Tahoma" panose="020B0604030504040204" pitchFamily="34" charset="0"/>
      <p:regular r:id="rId29"/>
      <p:bold r:id="rId30"/>
    </p:embeddedFont>
  </p:embeddedFontLst>
  <p:defaultTextStyle>
    <a:defPPr>
      <a:defRPr lang="en-I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B3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6BC82-DE6E-44D1-968C-9B90D4094D94}" v="1" dt="2026-04-17T15:51:36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4660"/>
  </p:normalViewPr>
  <p:slideViewPr>
    <p:cSldViewPr>
      <p:cViewPr varScale="1">
        <p:scale>
          <a:sx n="70" d="100"/>
          <a:sy n="70" d="100"/>
        </p:scale>
        <p:origin x="1128" y="2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Namee" userId="69a45ed0f0931cfc" providerId="LiveId" clId="{586D7335-4DCD-401A-9680-1FD0A416AC09}"/>
    <pc:docChg chg="modSld">
      <pc:chgData name="Ciaran MacNamee" userId="69a45ed0f0931cfc" providerId="LiveId" clId="{586D7335-4DCD-401A-9680-1FD0A416AC09}" dt="2026-04-17T15:51:24.085" v="3" actId="20577"/>
      <pc:docMkLst>
        <pc:docMk/>
      </pc:docMkLst>
      <pc:sldChg chg="modSp mod">
        <pc:chgData name="Ciaran MacNamee" userId="69a45ed0f0931cfc" providerId="LiveId" clId="{586D7335-4DCD-401A-9680-1FD0A416AC09}" dt="2026-04-17T15:51:24.085" v="3" actId="20577"/>
        <pc:sldMkLst>
          <pc:docMk/>
          <pc:sldMk cId="0" sldId="256"/>
        </pc:sldMkLst>
        <pc:spChg chg="mod">
          <ac:chgData name="Ciaran MacNamee" userId="69a45ed0f0931cfc" providerId="LiveId" clId="{586D7335-4DCD-401A-9680-1FD0A416AC09}" dt="2026-04-17T15:51:13.604" v="1" actId="6549"/>
          <ac:spMkLst>
            <pc:docMk/>
            <pc:sldMk cId="0" sldId="256"/>
            <ac:spMk id="5125" creationId="{00000000-0000-0000-0000-000000000000}"/>
          </ac:spMkLst>
        </pc:spChg>
        <pc:spChg chg="mod">
          <ac:chgData name="Ciaran MacNamee" userId="69a45ed0f0931cfc" providerId="LiveId" clId="{586D7335-4DCD-401A-9680-1FD0A416AC09}" dt="2026-04-17T15:51:24.085" v="3" actId="20577"/>
          <ac:spMkLst>
            <pc:docMk/>
            <pc:sldMk cId="0" sldId="256"/>
            <ac:spMk id="512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8789A-6880-4222-B427-EE97DDDE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FCB9B-BF94-4D24-9204-6A5750529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20" y="0"/>
            <a:ext cx="2971336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45CD64C-0B54-441C-97C5-7C071B8A6CA0}" type="datetimeFigureOut">
              <a:rPr lang="en-IE"/>
              <a:pPr>
                <a:defRPr/>
              </a:pPr>
              <a:t>17/04/2026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906E-0917-40FB-B176-F28752B60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647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4F16C-54D3-4AE0-90F5-EBF279BFC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20" y="9446470"/>
            <a:ext cx="2971336" cy="497536"/>
          </a:xfrm>
          <a:prstGeom prst="rect">
            <a:avLst/>
          </a:prstGeom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E9BB88-4594-452D-97CF-DBF539BC167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5434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8C2741-2BDD-48D5-86A8-EC87CA770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64AE7-5771-4C10-A0C5-8D17B98165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5120" y="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CE66508-9FA6-46C8-9854-34103033F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337" y="4724917"/>
            <a:ext cx="5487326" cy="44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0F41B3-29AB-420A-BD01-FA1262759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47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454F4F7-A6DF-4F56-806B-AB9A342F5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120" y="944647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D78038-9F06-419B-A634-E48307815C35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41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30988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78038-9F06-419B-A634-E48307815C35}" type="slidenum">
              <a:rPr lang="en-IE" altLang="en-US" smtClean="0"/>
              <a:pPr/>
              <a:t>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48883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6A62B4B6-43E9-43D8-839B-AEB9F612054A}" type="slidenum">
              <a:rPr lang="en-GB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3</a:t>
            </a:fld>
            <a:endParaRPr lang="en-GB" altLang="en-US"/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51553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400"/>
            </a:lvl1pPr>
          </a:lstStyle>
          <a:p>
            <a:pPr lvl="0"/>
            <a:r>
              <a:rPr lang="en-IE" alt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IE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E628FB-ACFE-48A4-B69E-F28FD7759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FEC5AF-4338-43D6-B111-46449E451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578602-52F6-407A-94C1-934E6D89C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795E-2992-41FB-9AFE-FDD23EF301EC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122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FABE9-A1F0-4D25-A546-B48E1EC44F84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682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173D2-418A-47DD-A23C-C5D14B0AAB3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501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74E5F-DAEC-4CA2-8834-37FB243B2B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031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8BCF-E64A-438B-BFF1-976839A23CF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60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8CAD8-78B5-4715-9523-5EB050334FB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772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28AD9-E164-47E9-A133-BC0A8A9B86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3190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5495F-ABC7-4D7D-AACD-1388F0121A21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963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A50F8-407A-4F90-8D31-B36F606E59D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55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A2425E-98D4-4FBF-AF67-8C9D6C7FC7FE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772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88913"/>
            <a:ext cx="2743200" cy="5942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8913"/>
            <a:ext cx="8026400" cy="5942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0B3FF-503E-44DE-B03C-217DF22481CF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2078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913"/>
            <a:ext cx="10972800" cy="647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2287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60EC2-F83B-4EA5-89D7-D13ADD964D29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12597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CFBA-08CB-45A1-9985-EF82ADAB39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80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4263E-8DEB-43AE-B3A3-53F686D36A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91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8913"/>
            <a:ext cx="10972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text styles</a:t>
            </a:r>
          </a:p>
          <a:p>
            <a:pPr lvl="1"/>
            <a:r>
              <a:rPr lang="en-IE" altLang="en-US"/>
              <a:t>Second level</a:t>
            </a:r>
          </a:p>
          <a:p>
            <a:pPr lvl="2"/>
            <a:r>
              <a:rPr lang="en-IE" altLang="en-US"/>
              <a:t>Third level</a:t>
            </a:r>
          </a:p>
          <a:p>
            <a:pPr lvl="3"/>
            <a:r>
              <a:rPr lang="en-IE" altLang="en-US"/>
              <a:t>Fourth level</a:t>
            </a:r>
          </a:p>
          <a:p>
            <a:pPr lvl="4"/>
            <a:r>
              <a:rPr lang="en-IE" altLang="en-US"/>
              <a:t>Fifth level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E" altLang="en-US"/>
              <a:t>Session 7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3B3636E-62EF-4D06-B875-1EED8D9631B0}" type="slidenum">
              <a:rPr lang="en-IE" altLang="en-US"/>
              <a:pPr/>
              <a:t>‹#›</a:t>
            </a:fld>
            <a:endParaRPr lang="en-IE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704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5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355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287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20133" y="9779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29734" y="1524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04285" y="9429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12851" y="176214"/>
            <a:ext cx="10729383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1" y="1192213"/>
            <a:ext cx="11311467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69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267" y="62182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69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267" y="6243638"/>
            <a:ext cx="49953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Session 7</a:t>
            </a:r>
            <a:endParaRPr lang="en-US" dirty="0"/>
          </a:p>
        </p:txBody>
      </p:sp>
      <p:sp>
        <p:nvSpPr>
          <p:cNvPr id="569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D81562D7-3287-490A-A831-988E1CD917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0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Spring 2026</a:t>
            </a:r>
            <a:endParaRPr lang="en-IE" altLang="en-US" sz="100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IE" altLang="en-US" sz="1000"/>
              <a:t>Session 7</a:t>
            </a: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4A196-E8AA-441C-B267-4C29E5FE499F}" type="slidenum">
              <a:rPr lang="en-IE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E" alt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3432" y="1524000"/>
            <a:ext cx="10395768" cy="1752600"/>
          </a:xfrm>
        </p:spPr>
        <p:txBody>
          <a:bodyPr/>
          <a:lstStyle/>
          <a:p>
            <a:pPr eaLnBrk="1" hangingPunct="1"/>
            <a:r>
              <a:rPr lang="en-IE" altLang="en-US" sz="3200" dirty="0"/>
              <a:t>Introduction to Embedded Systems using Arduino</a:t>
            </a:r>
            <a:endParaRPr lang="en-IE" altLang="en-US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507" y="4365104"/>
            <a:ext cx="10395768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400"/>
              <a:t>Session 7: </a:t>
            </a:r>
            <a:r>
              <a:rPr lang="en-GB" altLang="en-US" sz="2400" dirty="0"/>
              <a:t>OLED display using I2C Synchronous Serial Interface</a:t>
            </a:r>
            <a:endParaRPr lang="en-IE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Dr Ciaran MacNamee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SimSun" charset="-122"/>
              </a:rPr>
              <a:t>Synchronous Serial Interfaces</a:t>
            </a:r>
            <a:endParaRPr lang="en-IE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As well as the (asynchronous) serial interface we have been using, many microcontrollers, including Arduino, also use two synchronous serial interfaces: I</a:t>
            </a:r>
            <a:r>
              <a:rPr lang="en-IE" baseline="30000" dirty="0"/>
              <a:t>2</a:t>
            </a:r>
            <a:r>
              <a:rPr lang="en-IE" dirty="0"/>
              <a:t>C and SPI</a:t>
            </a:r>
          </a:p>
          <a:p>
            <a:r>
              <a:rPr lang="en-IE" dirty="0"/>
              <a:t>We’ll look at them briefly and then move onto using I</a:t>
            </a:r>
            <a:r>
              <a:rPr lang="en-IE" baseline="30000" dirty="0"/>
              <a:t>2</a:t>
            </a:r>
            <a:r>
              <a:rPr lang="en-IE" dirty="0"/>
              <a:t>C as an interface to an OLED display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2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Spring 2026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Session 7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</a:pPr>
            <a:fld id="{75744EDF-6034-4EE4-83B7-2B8F287A2F5D}" type="slidenum">
              <a:rPr lang="en-GB" altLang="en-US" sz="1000"/>
              <a:pPr>
                <a:spcBef>
                  <a:spcPct val="0"/>
                </a:spcBef>
              </a:pPr>
              <a:t>3</a:t>
            </a:fld>
            <a:endParaRPr lang="en-GB" altLang="en-US" sz="1000"/>
          </a:p>
        </p:txBody>
      </p:sp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2297723" y="115889"/>
            <a:ext cx="8225815" cy="7207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E" altLang="en-US" dirty="0"/>
              <a:t>Synchronous Serial Interfaces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7368" y="1157288"/>
            <a:ext cx="11449272" cy="554355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 eaLnBrk="1" hangingPunct="1">
              <a:spcBef>
                <a:spcPts val="700"/>
              </a:spcBef>
              <a:buClr>
                <a:srgbClr val="86D1EC"/>
              </a:buClr>
              <a:buSzPct val="103000"/>
              <a:buFont typeface="Times New Roman" pitchFamily="18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IE" altLang="en-US" sz="2800" dirty="0"/>
              <a:t>SPI (Serial Peripheral Interface) and I</a:t>
            </a:r>
            <a:r>
              <a:rPr lang="en-IE" altLang="en-US" sz="2800" baseline="30000" dirty="0"/>
              <a:t>2</a:t>
            </a:r>
            <a:r>
              <a:rPr lang="en-IE" altLang="en-US" sz="2800" dirty="0"/>
              <a:t>C (Inter-Integrated Circuit) interfaces are synchronous serial communications interfaces</a:t>
            </a:r>
          </a:p>
          <a:p>
            <a:pPr marL="741363" lvl="1" indent="-284163" eaLnBrk="1" hangingPunct="1">
              <a:buClr>
                <a:srgbClr val="FFFF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IE" altLang="en-US" dirty="0"/>
              <a:t>Synchronous means that a common clock signal is used to interface between devices</a:t>
            </a:r>
          </a:p>
          <a:p>
            <a:pPr marL="741363" lvl="1" indent="-284163" eaLnBrk="1" hangingPunct="1">
              <a:buClr>
                <a:srgbClr val="FFFF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IE" altLang="en-US" dirty="0"/>
              <a:t>In comparison the UART used for Serial in Arduino does not use a common clock - it is asynchronous</a:t>
            </a:r>
          </a:p>
          <a:p>
            <a:pPr marL="341313" indent="-341313" eaLnBrk="1" hangingPunct="1">
              <a:spcBef>
                <a:spcPts val="700"/>
              </a:spcBef>
              <a:buClr>
                <a:srgbClr val="86D1EC"/>
              </a:buClr>
              <a:buSzPct val="103000"/>
              <a:buFont typeface="Wingdings" pitchFamily="2" charset="2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IE" altLang="en-US" sz="2800" dirty="0"/>
              <a:t>SPI and I</a:t>
            </a:r>
            <a:r>
              <a:rPr lang="en-IE" altLang="en-US" sz="2800" baseline="30000" dirty="0"/>
              <a:t>2</a:t>
            </a:r>
            <a:r>
              <a:rPr lang="en-IE" altLang="en-US" sz="2800" dirty="0"/>
              <a:t>C are used for short-distance communications - often on the same board or in the same system</a:t>
            </a:r>
          </a:p>
        </p:txBody>
      </p:sp>
    </p:spTree>
    <p:extLst>
      <p:ext uri="{BB962C8B-B14F-4D97-AF65-F5344CB8AC3E}">
        <p14:creationId xmlns:p14="http://schemas.microsoft.com/office/powerpoint/2010/main" val="10929724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Spring 2026</a:t>
            </a:r>
          </a:p>
        </p:txBody>
      </p:sp>
      <p:sp>
        <p:nvSpPr>
          <p:cNvPr id="399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Session 7</a:t>
            </a:r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</a:pPr>
            <a:fld id="{999FDB93-DD47-477B-B117-9AF67FB0BA45}" type="slidenum">
              <a:rPr lang="en-GB" altLang="en-US" sz="1000"/>
              <a:pPr>
                <a:spcBef>
                  <a:spcPct val="0"/>
                </a:spcBef>
              </a:pPr>
              <a:t>4</a:t>
            </a:fld>
            <a:endParaRPr lang="en-GB" altLang="en-US" sz="100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/>
              <a:t>I2C – Two Wire Interface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7267" y="987426"/>
            <a:ext cx="11145357" cy="5688013"/>
          </a:xfrm>
        </p:spPr>
        <p:txBody>
          <a:bodyPr/>
          <a:lstStyle/>
          <a:p>
            <a:pPr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800" dirty="0"/>
              <a:t>Inter-Integrated Circuit (I</a:t>
            </a:r>
            <a:r>
              <a:rPr lang="en-IE" altLang="en-US" baseline="30000" dirty="0"/>
              <a:t>2</a:t>
            </a:r>
            <a:r>
              <a:rPr lang="en-IE" altLang="en-US" sz="2800" dirty="0"/>
              <a:t>C) Bus is a 2-wire synchronous serial bus originally developed by Philips that is widely used for communications with many devices</a:t>
            </a:r>
          </a:p>
          <a:p>
            <a:pPr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800" dirty="0"/>
              <a:t>Smaller number of wires is an advantage but comes at a cost</a:t>
            </a:r>
          </a:p>
          <a:p>
            <a:pPr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800" dirty="0"/>
              <a:t>You cannot get data to go in both directions simultaneously</a:t>
            </a:r>
          </a:p>
          <a:p>
            <a:pPr lvl="1"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400" dirty="0"/>
              <a:t>Half-Duplex only – one at a time</a:t>
            </a:r>
          </a:p>
          <a:p>
            <a:pPr lvl="1"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400" dirty="0"/>
              <a:t>Master transmits, then if needed slave transmits</a:t>
            </a:r>
          </a:p>
          <a:p>
            <a:pPr eaLnBrk="1" hangingPunct="1">
              <a:buClr>
                <a:schemeClr val="bg1"/>
              </a:buClr>
              <a:buFont typeface="Wingdings" pitchFamily="2" charset="2"/>
              <a:buChar char="q"/>
              <a:defRPr/>
            </a:pPr>
            <a:r>
              <a:rPr lang="en-IE" altLang="en-US" sz="2800" dirty="0"/>
              <a:t>Also means that I</a:t>
            </a:r>
            <a:r>
              <a:rPr lang="en-IE" altLang="en-US" baseline="30000" dirty="0"/>
              <a:t>2</a:t>
            </a:r>
            <a:r>
              <a:rPr lang="en-IE" altLang="en-US" sz="2800" dirty="0"/>
              <a:t>C needs a ‘protocol’ to sort out the order of transmit/receive</a:t>
            </a:r>
          </a:p>
        </p:txBody>
      </p:sp>
    </p:spTree>
    <p:extLst>
      <p:ext uri="{BB962C8B-B14F-4D97-AF65-F5344CB8AC3E}">
        <p14:creationId xmlns:p14="http://schemas.microsoft.com/office/powerpoint/2010/main" val="403099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I2C Data Flow</a:t>
            </a:r>
          </a:p>
        </p:txBody>
      </p:sp>
      <p:pic>
        <p:nvPicPr>
          <p:cNvPr id="41987" name="Picture 5" descr="02-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981075"/>
            <a:ext cx="57150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 Box 6"/>
          <p:cNvSpPr txBox="1">
            <a:spLocks noChangeArrowheads="1"/>
          </p:cNvSpPr>
          <p:nvPr/>
        </p:nvSpPr>
        <p:spPr bwMode="auto">
          <a:xfrm>
            <a:off x="2063750" y="3500439"/>
            <a:ext cx="8135938" cy="2246769"/>
          </a:xfrm>
          <a:prstGeom prst="rect">
            <a:avLst/>
          </a:prstGeom>
          <a:solidFill>
            <a:srgbClr val="FFFF00"/>
          </a:solidFill>
          <a:ln>
            <a:solidFill>
              <a:srgbClr val="00B05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IE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SCK goes from Controller to Peripheral</a:t>
            </a:r>
          </a:p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IE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SDA is bi-directional</a:t>
            </a:r>
          </a:p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IE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I2C devices each have an address, which is detected</a:t>
            </a:r>
          </a:p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IE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the addressed device takes part in the transmission</a:t>
            </a:r>
          </a:p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IE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true 2-wire bus</a:t>
            </a:r>
          </a:p>
        </p:txBody>
      </p:sp>
      <p:sp>
        <p:nvSpPr>
          <p:cNvPr id="41989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Spring 2026</a:t>
            </a:r>
          </a:p>
        </p:txBody>
      </p:sp>
      <p:sp>
        <p:nvSpPr>
          <p:cNvPr id="4199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Session 7</a:t>
            </a:r>
          </a:p>
        </p:txBody>
      </p:sp>
      <p:sp>
        <p:nvSpPr>
          <p:cNvPr id="419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</a:pPr>
            <a:fld id="{D9D8633C-73B8-45A6-9DC7-8254598DC616}" type="slidenum">
              <a:rPr lang="en-GB" altLang="en-US" sz="1000"/>
              <a:pPr>
                <a:spcBef>
                  <a:spcPct val="0"/>
                </a:spcBef>
              </a:pPr>
              <a:t>5</a:t>
            </a:fld>
            <a:endParaRPr lang="en-GB" altLang="en-US" sz="1000"/>
          </a:p>
        </p:txBody>
      </p:sp>
    </p:spTree>
    <p:extLst>
      <p:ext uri="{BB962C8B-B14F-4D97-AF65-F5344CB8AC3E}">
        <p14:creationId xmlns:p14="http://schemas.microsoft.com/office/powerpoint/2010/main" val="34683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Spring 2026</a:t>
            </a:r>
          </a:p>
        </p:txBody>
      </p:sp>
      <p:sp>
        <p:nvSpPr>
          <p:cNvPr id="440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Session 7</a:t>
            </a: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FFFFFF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>
              <a:spcBef>
                <a:spcPct val="0"/>
              </a:spcBef>
            </a:pPr>
            <a:fld id="{0683621E-22E5-4050-A175-31C7B5733814}" type="slidenum">
              <a:rPr lang="en-GB" altLang="en-US" sz="1000"/>
              <a:pPr>
                <a:spcBef>
                  <a:spcPct val="0"/>
                </a:spcBef>
              </a:pPr>
              <a:t>6</a:t>
            </a:fld>
            <a:endParaRPr lang="en-GB" altLang="en-US" sz="100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448" y="260648"/>
            <a:ext cx="10657184" cy="648841"/>
          </a:xfrm>
        </p:spPr>
        <p:txBody>
          <a:bodyPr/>
          <a:lstStyle/>
          <a:p>
            <a:pPr eaLnBrk="1" hangingPunct="1">
              <a:defRPr/>
            </a:pPr>
            <a:r>
              <a:rPr lang="en-IE" altLang="en-US" dirty="0"/>
              <a:t>I2C Operation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028677"/>
            <a:ext cx="10441160" cy="21605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IE" altLang="en-US" sz="2000" dirty="0"/>
              <a:t>SCL and SDA are open-drain lines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IE" altLang="en-US" sz="2000" dirty="0"/>
              <a:t>Their Idle state is high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IE" altLang="en-US" sz="2000" dirty="0"/>
              <a:t>Open drain signals need a pull-up resistor to work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IE" altLang="en-US" sz="2000" dirty="0"/>
              <a:t>When a 3V supply is used, use a 1k</a:t>
            </a:r>
            <a:r>
              <a:rPr lang="el-GR" altLang="en-US" sz="2000" dirty="0">
                <a:cs typeface="Arial" charset="0"/>
              </a:rPr>
              <a:t>Ω</a:t>
            </a:r>
            <a:r>
              <a:rPr lang="en-IE" altLang="en-US" sz="2000" dirty="0"/>
              <a:t> or greater pullup resistor on SCL and SDA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IE" altLang="en-US" sz="2000" dirty="0"/>
              <a:t>When using a 5V supply, use a 1.6k </a:t>
            </a:r>
            <a:r>
              <a:rPr lang="el-GR" altLang="en-US" sz="2000" dirty="0">
                <a:cs typeface="Arial" charset="0"/>
              </a:rPr>
              <a:t>Ω</a:t>
            </a:r>
            <a:r>
              <a:rPr lang="en-IE" altLang="en-US" sz="2000" dirty="0"/>
              <a:t> or greater pullup resistor</a:t>
            </a:r>
          </a:p>
        </p:txBody>
      </p:sp>
      <p:pic>
        <p:nvPicPr>
          <p:cNvPr id="44039" name="Picture 5" descr="Figure 3. Two-wire interfaces provide data input/output and clock lin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001964"/>
            <a:ext cx="914400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363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I2C in Arduino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I2C protocol is quite complicated and Arduino makes your life easier by providing a library called ‘wire’ that handles the low-level details of an I2C interface</a:t>
            </a:r>
          </a:p>
          <a:p>
            <a:r>
              <a:rPr lang="en-IE" dirty="0"/>
              <a:t>Use it by including the following lines at the start of your sketch:</a:t>
            </a:r>
          </a:p>
          <a:p>
            <a:endParaRPr lang="en-IE" dirty="0"/>
          </a:p>
          <a:p>
            <a:r>
              <a:rPr lang="en-IE" dirty="0"/>
              <a:t>This gives you access to a lot of useful functions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546293" y="3424780"/>
            <a:ext cx="3693640" cy="830997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include the library code:</a:t>
            </a:r>
          </a:p>
          <a:p>
            <a:r>
              <a:rPr lang="en-IE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IE" sz="2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Wire.h</a:t>
            </a:r>
            <a:r>
              <a:rPr lang="en-IE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7423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OLED SSD1306 display using I2C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192213"/>
            <a:ext cx="11083973" cy="3244899"/>
          </a:xfrm>
        </p:spPr>
        <p:txBody>
          <a:bodyPr/>
          <a:lstStyle/>
          <a:p>
            <a:r>
              <a:rPr lang="en-IE" dirty="0"/>
              <a:t>SSD1306 is an OLED display that you can use for graphics and/or text</a:t>
            </a:r>
          </a:p>
          <a:p>
            <a:r>
              <a:rPr lang="en-IE" dirty="0"/>
              <a:t>It is small but very useful and powerful and some versions have colour displays</a:t>
            </a:r>
          </a:p>
          <a:p>
            <a:r>
              <a:rPr lang="en-IE" dirty="0"/>
              <a:t>We’ll use it for simple text, but you might like to try a few different options yourselves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179702-A2A6-F112-01C7-40D0E720A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3870733"/>
            <a:ext cx="2806457" cy="2772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49C002-29F6-6083-F501-289F49D63D6E}"/>
              </a:ext>
            </a:extLst>
          </p:cNvPr>
          <p:cNvSpPr txBox="1"/>
          <p:nvPr/>
        </p:nvSpPr>
        <p:spPr>
          <a:xfrm>
            <a:off x="1638931" y="4581128"/>
            <a:ext cx="69301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Note the I2C interface pins and the VCC and Ground Connections</a:t>
            </a:r>
            <a:endParaRPr lang="en-I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67537C-7747-C815-F18C-5015779F7F7B}"/>
              </a:ext>
            </a:extLst>
          </p:cNvPr>
          <p:cNvCxnSpPr>
            <a:stCxn id="9" idx="3"/>
          </p:cNvCxnSpPr>
          <p:nvPr/>
        </p:nvCxnSpPr>
        <p:spPr bwMode="auto">
          <a:xfrm flipV="1">
            <a:off x="8569033" y="4437112"/>
            <a:ext cx="983351" cy="32868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3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CC9FF50-F16D-4734-30BC-5D8B65C74951}"/>
              </a:ext>
            </a:extLst>
          </p:cNvPr>
          <p:cNvSpPr txBox="1"/>
          <p:nvPr/>
        </p:nvSpPr>
        <p:spPr>
          <a:xfrm>
            <a:off x="1638931" y="5256814"/>
            <a:ext cx="702442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You’ll need to connect these pins to the Arduino using jumper wires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C49E9-C8E4-6865-ACF6-046534C4E5A2}"/>
              </a:ext>
            </a:extLst>
          </p:cNvPr>
          <p:cNvSpPr txBox="1"/>
          <p:nvPr/>
        </p:nvSpPr>
        <p:spPr>
          <a:xfrm>
            <a:off x="2815697" y="5848906"/>
            <a:ext cx="5782352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The OLED SSD1306 driver has an I2C address = 0x3c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17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Shield I2C pins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CB3B8C-1427-5A61-6873-F32826F02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709" y="1691214"/>
            <a:ext cx="6277851" cy="38391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E14FFE-CE74-2233-6A28-AD14D9B853C9}"/>
              </a:ext>
            </a:extLst>
          </p:cNvPr>
          <p:cNvSpPr txBox="1"/>
          <p:nvPr/>
        </p:nvSpPr>
        <p:spPr>
          <a:xfrm>
            <a:off x="407368" y="3140968"/>
            <a:ext cx="4465381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Connect these pins to the SSD1306 OLED display using jumper wires</a:t>
            </a:r>
          </a:p>
          <a:p>
            <a:endParaRPr lang="en-GB" dirty="0"/>
          </a:p>
          <a:p>
            <a:r>
              <a:rPr lang="en-GB" dirty="0"/>
              <a:t>Be careful of the order of the pins:</a:t>
            </a:r>
          </a:p>
          <a:p>
            <a:endParaRPr lang="en-GB" dirty="0"/>
          </a:p>
          <a:p>
            <a:r>
              <a:rPr lang="en-GB" dirty="0"/>
              <a:t>They are not exactly in the same places on the SSD1306 display</a:t>
            </a:r>
            <a:endParaRPr lang="en-I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E47F72D-A4D4-843E-8273-64A18638C438}"/>
              </a:ext>
            </a:extLst>
          </p:cNvPr>
          <p:cNvSpPr/>
          <p:nvPr/>
        </p:nvSpPr>
        <p:spPr bwMode="auto">
          <a:xfrm>
            <a:off x="4511825" y="3788410"/>
            <a:ext cx="959884" cy="801687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2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6296A-9E79-0043-A483-22183DD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0783B-3188-3EA8-64FD-8E3E80E6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0EAFD-6C11-3A8C-2527-083DE818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7" name="Picture 6" descr="A circuit board with wires connected to it&#10;&#10;Description automatically generated">
            <a:extLst>
              <a:ext uri="{FF2B5EF4-FFF2-40B4-BE49-F238E27FC236}">
                <a16:creationId xmlns:a16="http://schemas.microsoft.com/office/drawing/2014/main" id="{37638656-B2DD-2341-A8FA-ABA1CEFFA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76214"/>
            <a:ext cx="8676456" cy="6507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7941FF-4CAB-B471-3298-917870D1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851" y="176214"/>
            <a:ext cx="10979149" cy="801687"/>
          </a:xfrm>
        </p:spPr>
        <p:txBody>
          <a:bodyPr/>
          <a:lstStyle/>
          <a:p>
            <a:r>
              <a:rPr lang="en-GB" dirty="0"/>
              <a:t>Final Connection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7194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SSD1306 OLED Display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1228675"/>
          </a:xfrm>
        </p:spPr>
        <p:txBody>
          <a:bodyPr/>
          <a:lstStyle/>
          <a:p>
            <a:r>
              <a:rPr lang="en-IE" dirty="0"/>
              <a:t>Before using this display, we need to include a library for it.</a:t>
            </a:r>
          </a:p>
          <a:p>
            <a:r>
              <a:rPr lang="en-IE" dirty="0"/>
              <a:t>First, we try the Adafruit library, which supports graphics</a:t>
            </a:r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AC8C0B-945A-30E2-898E-0E056FE4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2484155"/>
            <a:ext cx="6315956" cy="3696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8EA536-DCE5-B6AD-DEAE-AC8443A7B2E3}"/>
              </a:ext>
            </a:extLst>
          </p:cNvPr>
          <p:cNvSpPr txBox="1"/>
          <p:nvPr/>
        </p:nvSpPr>
        <p:spPr>
          <a:xfrm>
            <a:off x="8040216" y="3068960"/>
            <a:ext cx="280831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Here the library has already been installed</a:t>
            </a:r>
            <a:endParaRPr lang="en-IE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23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1E03-186F-FB5D-AEBA-A84052D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851" y="176214"/>
            <a:ext cx="10355757" cy="801687"/>
          </a:xfrm>
        </p:spPr>
        <p:txBody>
          <a:bodyPr/>
          <a:lstStyle/>
          <a:p>
            <a:r>
              <a:rPr lang="en-GB" dirty="0"/>
              <a:t>Adafruit OLED Graphics (1)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EEE1-9658-53C6-4E10-2341489A2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3739157" cy="4940300"/>
          </a:xfrm>
        </p:spPr>
        <p:txBody>
          <a:bodyPr/>
          <a:lstStyle/>
          <a:p>
            <a:r>
              <a:rPr lang="en-GB" dirty="0"/>
              <a:t>This example shows the graphics capability of the Adafruit Library and OLED display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0A17-4344-3F23-943E-E0D415A6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E645-4E1C-C9D2-3B34-74A9934A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3DA80-050A-E4AF-3090-94F7D0CA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0D37B-9B73-6137-A503-5EE7BBE1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340" y="0"/>
            <a:ext cx="412411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658A93-C74C-A0E3-6A15-EFEC4F6949E4}"/>
              </a:ext>
            </a:extLst>
          </p:cNvPr>
          <p:cNvSpPr txBox="1"/>
          <p:nvPr/>
        </p:nvSpPr>
        <p:spPr>
          <a:xfrm>
            <a:off x="2078069" y="5013176"/>
            <a:ext cx="4114919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We’re using the I2C interface and the 128x32 example</a:t>
            </a:r>
            <a:endParaRPr lang="en-IE" sz="2400" dirty="0">
              <a:solidFill>
                <a:srgbClr val="FFFF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AF243D-B546-D7DB-9E72-6A5BD80426A6}"/>
              </a:ext>
            </a:extLst>
          </p:cNvPr>
          <p:cNvCxnSpPr/>
          <p:nvPr/>
        </p:nvCxnSpPr>
        <p:spPr bwMode="auto">
          <a:xfrm>
            <a:off x="6192988" y="5445224"/>
            <a:ext cx="4459309" cy="5100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85030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A4DEA-CD9D-359B-0CA5-8E2D9523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Adafruit OLED Graphics (2)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CB7D-5CF3-B588-41EA-3AB896485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92" y="1085057"/>
            <a:ext cx="11311467" cy="580603"/>
          </a:xfrm>
        </p:spPr>
        <p:txBody>
          <a:bodyPr/>
          <a:lstStyle/>
          <a:p>
            <a:r>
              <a:rPr lang="en-GB" dirty="0"/>
              <a:t>This sketch has a great display, but…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042B-5AD3-5671-091D-9C7ABBE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E4F39-AFC5-FA21-C99A-9BDB1622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7AA89-19F0-6B05-3D6F-9A194645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8DF08F-D111-B9F4-2DE5-2E7926F9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709079"/>
            <a:ext cx="7363853" cy="1505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C81AE7-DBEA-B7FE-394D-4AD65F85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92" y="3257658"/>
            <a:ext cx="9059539" cy="34675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7E3062-08C5-AC08-27DB-F0FDC6662C37}"/>
              </a:ext>
            </a:extLst>
          </p:cNvPr>
          <p:cNvSpPr txBox="1"/>
          <p:nvPr/>
        </p:nvSpPr>
        <p:spPr>
          <a:xfrm>
            <a:off x="6912645" y="4196650"/>
            <a:ext cx="5044971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The sketch uses a lot of code and data memory</a:t>
            </a:r>
            <a:endParaRPr lang="en-IE" dirty="0">
              <a:solidFill>
                <a:srgbClr val="FFFF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335C89-B546-9DEF-8E1A-C851C358BE4A}"/>
              </a:ext>
            </a:extLst>
          </p:cNvPr>
          <p:cNvCxnSpPr/>
          <p:nvPr/>
        </p:nvCxnSpPr>
        <p:spPr bwMode="auto">
          <a:xfrm flipH="1">
            <a:off x="8040216" y="4565982"/>
            <a:ext cx="1394914" cy="16776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7D5772-2D42-335D-B614-8807F689DB1F}"/>
              </a:ext>
            </a:extLst>
          </p:cNvPr>
          <p:cNvSpPr txBox="1"/>
          <p:nvPr/>
        </p:nvSpPr>
        <p:spPr>
          <a:xfrm>
            <a:off x="6936754" y="5291431"/>
            <a:ext cx="5020862" cy="307777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FF00"/>
                </a:solidFill>
              </a:rPr>
              <a:t>Remember: The SSD1306 driver has an I2C address = 0x3c</a:t>
            </a:r>
            <a:endParaRPr lang="en-IE" sz="1400" dirty="0">
              <a:solidFill>
                <a:srgbClr val="FFFF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384D90-11D5-2592-9F9F-26C275C1FB22}"/>
              </a:ext>
            </a:extLst>
          </p:cNvPr>
          <p:cNvCxnSpPr/>
          <p:nvPr/>
        </p:nvCxnSpPr>
        <p:spPr bwMode="auto">
          <a:xfrm flipH="1">
            <a:off x="3431704" y="5445319"/>
            <a:ext cx="3480941" cy="45976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36290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5162-274E-4855-0B70-5D2745BA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Adafruit Library for text (print and </a:t>
            </a:r>
            <a:r>
              <a:rPr lang="en-GB" dirty="0" err="1"/>
              <a:t>println</a:t>
            </a:r>
            <a:r>
              <a:rPr lang="en-GB" dirty="0"/>
              <a:t>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4033-135E-7DD1-C97E-17E7E9CF2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3739157" cy="5483225"/>
          </a:xfrm>
        </p:spPr>
        <p:txBody>
          <a:bodyPr/>
          <a:lstStyle/>
          <a:p>
            <a:r>
              <a:rPr lang="en-GB" sz="2800" dirty="0"/>
              <a:t>The Adafruit library can support simple text and print operations</a:t>
            </a:r>
          </a:p>
          <a:p>
            <a:r>
              <a:rPr lang="en-GB" sz="2800" dirty="0"/>
              <a:t>Just like </a:t>
            </a:r>
            <a:r>
              <a:rPr lang="en-GB" sz="2800" dirty="0" err="1"/>
              <a:t>Serial.print</a:t>
            </a:r>
            <a:r>
              <a:rPr lang="en-GB" sz="2800" dirty="0"/>
              <a:t> etc – but with a smaller display and some points to remember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4DB5-8260-0612-1A87-2654FC417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0958-D793-6F73-28AA-1E303C1F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0707-3A56-33D8-E53A-18313D4E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14DF40-3009-C69D-26E4-CBB088D1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555" y="1062829"/>
            <a:ext cx="7935432" cy="5020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59F0A-2C0A-C7B4-0D84-F38BA11318EA}"/>
              </a:ext>
            </a:extLst>
          </p:cNvPr>
          <p:cNvSpPr txBox="1"/>
          <p:nvPr/>
        </p:nvSpPr>
        <p:spPr>
          <a:xfrm>
            <a:off x="6744072" y="4653136"/>
            <a:ext cx="4750018" cy="1477328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Uses of </a:t>
            </a:r>
            <a:r>
              <a:rPr lang="en-GB" dirty="0" err="1">
                <a:solidFill>
                  <a:srgbClr val="FFFF00"/>
                </a:solidFill>
              </a:rPr>
              <a:t>display.print</a:t>
            </a:r>
            <a:r>
              <a:rPr lang="en-GB" dirty="0">
                <a:solidFill>
                  <a:srgbClr val="FFFF00"/>
                </a:solidFill>
              </a:rPr>
              <a:t> and </a:t>
            </a:r>
            <a:r>
              <a:rPr lang="en-GB" dirty="0" err="1">
                <a:solidFill>
                  <a:srgbClr val="FFFF00"/>
                </a:solidFill>
              </a:rPr>
              <a:t>display.println</a:t>
            </a:r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Note that you must include </a:t>
            </a:r>
            <a:r>
              <a:rPr lang="en-GB" dirty="0" err="1">
                <a:solidFill>
                  <a:srgbClr val="FFFF00"/>
                </a:solidFill>
              </a:rPr>
              <a:t>display.display</a:t>
            </a:r>
            <a:r>
              <a:rPr lang="en-GB" dirty="0">
                <a:solidFill>
                  <a:srgbClr val="FFFF00"/>
                </a:solidFill>
              </a:rPr>
              <a:t>(); </a:t>
            </a:r>
          </a:p>
          <a:p>
            <a:r>
              <a:rPr lang="en-GB" dirty="0">
                <a:solidFill>
                  <a:srgbClr val="FFFF00"/>
                </a:solidFill>
              </a:rPr>
              <a:t>if you want anything to appear on the display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See ssd_1306_i2c_128x32_text.ino</a:t>
            </a:r>
            <a:endParaRPr lang="en-IE" dirty="0">
              <a:solidFill>
                <a:srgbClr val="FFFF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2EF1FF-B055-631C-E757-FC30BE146FA1}"/>
              </a:ext>
            </a:extLst>
          </p:cNvPr>
          <p:cNvCxnSpPr/>
          <p:nvPr/>
        </p:nvCxnSpPr>
        <p:spPr bwMode="auto">
          <a:xfrm flipH="1" flipV="1">
            <a:off x="6096000" y="4077072"/>
            <a:ext cx="2520280" cy="57606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4F735B-FD52-3C1C-2A50-1415010DB734}"/>
              </a:ext>
            </a:extLst>
          </p:cNvPr>
          <p:cNvCxnSpPr/>
          <p:nvPr/>
        </p:nvCxnSpPr>
        <p:spPr bwMode="auto">
          <a:xfrm flipH="1" flipV="1">
            <a:off x="8328248" y="4005064"/>
            <a:ext cx="288032" cy="64807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A2F2D5-BE55-64D9-087B-7FF50F50B172}"/>
              </a:ext>
            </a:extLst>
          </p:cNvPr>
          <p:cNvCxnSpPr/>
          <p:nvPr/>
        </p:nvCxnSpPr>
        <p:spPr bwMode="auto">
          <a:xfrm flipV="1">
            <a:off x="8616280" y="4077072"/>
            <a:ext cx="1152128" cy="57606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9362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CEA5D-EEC9-25E2-BCAC-86A57520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75967-A269-ADBE-0EB6-6BDF32E7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9DC2-4667-1E69-8C0D-0AB00C9D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1339A-A081-A798-DE81-C19743F70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4" y="2213206"/>
            <a:ext cx="2638793" cy="4229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81AEFF-04DF-A87F-1045-BB213503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275" y="15466"/>
            <a:ext cx="4174725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2122F6-1E3B-D3DF-FC95-E908A62C53C0}"/>
              </a:ext>
            </a:extLst>
          </p:cNvPr>
          <p:cNvSpPr txBox="1"/>
          <p:nvPr/>
        </p:nvSpPr>
        <p:spPr>
          <a:xfrm>
            <a:off x="3964490" y="2213206"/>
            <a:ext cx="3811485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Try AvrI2c128x32 and modify it to display DHT11 readings on the OLED display instead of the Serial port</a:t>
            </a:r>
            <a:endParaRPr lang="en-IE" dirty="0">
              <a:solidFill>
                <a:srgbClr val="FFFF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A1350-D920-101D-B49F-876E0564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smaller but less powerful library</a:t>
            </a:r>
            <a:endParaRPr lang="en-I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A82D7A-4982-0A5B-9267-661D0ED6722F}"/>
              </a:ext>
            </a:extLst>
          </p:cNvPr>
          <p:cNvCxnSpPr>
            <a:stCxn id="11" idx="3"/>
          </p:cNvCxnSpPr>
          <p:nvPr/>
        </p:nvCxnSpPr>
        <p:spPr bwMode="auto">
          <a:xfrm flipV="1">
            <a:off x="7775975" y="1412776"/>
            <a:ext cx="3288577" cy="14005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51A2-AC42-E6A2-DF52-C1845393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8108949" cy="652611"/>
          </a:xfrm>
        </p:spPr>
        <p:txBody>
          <a:bodyPr/>
          <a:lstStyle/>
          <a:p>
            <a:r>
              <a:rPr lang="en-GB" dirty="0"/>
              <a:t>This is smaller ssd1306 library, which only works for text</a:t>
            </a:r>
          </a:p>
        </p:txBody>
      </p:sp>
    </p:spTree>
    <p:extLst>
      <p:ext uri="{BB962C8B-B14F-4D97-AF65-F5344CB8AC3E}">
        <p14:creationId xmlns:p14="http://schemas.microsoft.com/office/powerpoint/2010/main" val="3296649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280F-AEA7-F950-8BCF-344AB28E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AvrI2c_128x32 Compiled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7E3A2-5506-78B1-7B66-32B30AF6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5072F-FF60-3353-2DF2-1FC6C333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ACBF9-FB9C-E21F-E211-E2C0A731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4DA0C7-4189-5217-F94F-26565611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69" y="1230052"/>
            <a:ext cx="9678751" cy="5258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9BF75F-5CF7-B48C-4FED-E9868710B72D}"/>
              </a:ext>
            </a:extLst>
          </p:cNvPr>
          <p:cNvSpPr txBox="1"/>
          <p:nvPr/>
        </p:nvSpPr>
        <p:spPr>
          <a:xfrm>
            <a:off x="5231905" y="5001490"/>
            <a:ext cx="4583306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This time use </a:t>
            </a:r>
            <a:r>
              <a:rPr lang="en-GB" dirty="0" err="1">
                <a:solidFill>
                  <a:srgbClr val="FFFF00"/>
                </a:solidFill>
              </a:rPr>
              <a:t>oled.print</a:t>
            </a:r>
            <a:r>
              <a:rPr lang="en-GB" dirty="0">
                <a:solidFill>
                  <a:srgbClr val="FFFF00"/>
                </a:solidFill>
              </a:rPr>
              <a:t>() and </a:t>
            </a:r>
            <a:r>
              <a:rPr lang="en-GB" dirty="0" err="1">
                <a:solidFill>
                  <a:srgbClr val="FFFF00"/>
                </a:solidFill>
              </a:rPr>
              <a:t>oled.println</a:t>
            </a:r>
            <a:r>
              <a:rPr lang="en-GB" dirty="0">
                <a:solidFill>
                  <a:srgbClr val="FFFF00"/>
                </a:solidFill>
              </a:rPr>
              <a:t>();</a:t>
            </a:r>
            <a:endParaRPr lang="en-IE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B4AC8-11BF-2DC8-D8A9-3CAC947B8593}"/>
              </a:ext>
            </a:extLst>
          </p:cNvPr>
          <p:cNvSpPr txBox="1"/>
          <p:nvPr/>
        </p:nvSpPr>
        <p:spPr>
          <a:xfrm>
            <a:off x="6577542" y="3008248"/>
            <a:ext cx="4824536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Modify this sketch to display DHT11 and Analog In 0 data on the OLED display</a:t>
            </a:r>
            <a:endParaRPr lang="en-IE" sz="24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F5AD0-4050-0F68-EDB7-61E961EE29B8}"/>
              </a:ext>
            </a:extLst>
          </p:cNvPr>
          <p:cNvSpPr txBox="1"/>
          <p:nvPr/>
        </p:nvSpPr>
        <p:spPr>
          <a:xfrm>
            <a:off x="5838017" y="6306106"/>
            <a:ext cx="4467890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Notice that the memory used is much less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586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49C8-E2EE-DB7E-5CF9-17414D00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Control a Servo Motor (1)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EBBE-E13B-8E2F-A6D6-837105402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01698" cy="3275090"/>
          </a:xfrm>
        </p:spPr>
        <p:txBody>
          <a:bodyPr/>
          <a:lstStyle/>
          <a:p>
            <a:r>
              <a:rPr lang="en-GB" dirty="0">
                <a:latin typeface="Arial"/>
                <a:cs typeface="Arial"/>
              </a:rPr>
              <a:t>Servo motors use a PWM input signal to control the servo motor position</a:t>
            </a:r>
          </a:p>
          <a:p>
            <a:r>
              <a:rPr lang="en-GB" dirty="0">
                <a:latin typeface="Arial"/>
                <a:cs typeface="Arial"/>
              </a:rPr>
              <a:t>They come in a range of sizes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We use a small one, SG90</a:t>
            </a:r>
          </a:p>
          <a:p>
            <a:r>
              <a:rPr lang="en-GB" dirty="0">
                <a:latin typeface="Arial"/>
                <a:cs typeface="Arial"/>
              </a:rPr>
              <a:t>Servo can rotate </a:t>
            </a:r>
            <a:r>
              <a:rPr lang="en-GB" u="sng" dirty="0">
                <a:latin typeface="Arial"/>
                <a:cs typeface="Arial"/>
              </a:rPr>
              <a:t>approximately</a:t>
            </a:r>
            <a:r>
              <a:rPr lang="en-GB" dirty="0">
                <a:latin typeface="Arial"/>
                <a:cs typeface="Arial"/>
              </a:rPr>
              <a:t> 180 degrees (90 in each direction)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1E115-C8F6-DF0F-33B7-48D266D3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D2A7-D38C-6E03-F5BC-118CD4BC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1CC21-74D6-3A0F-EA0D-1A5714C8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/>
              <a:pPr/>
              <a:t>17</a:t>
            </a:fld>
            <a:endParaRPr lang="en-US" altLang="en-US"/>
          </a:p>
        </p:txBody>
      </p:sp>
      <p:pic>
        <p:nvPicPr>
          <p:cNvPr id="7" name="Picture 7" descr="A small blue device with red wires">
            <a:extLst>
              <a:ext uri="{FF2B5EF4-FFF2-40B4-BE49-F238E27FC236}">
                <a16:creationId xmlns:a16="http://schemas.microsoft.com/office/drawing/2014/main" id="{F66563E0-D22F-2AE9-18CA-B5B4C3B4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66" y="4102712"/>
            <a:ext cx="5605584" cy="275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57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6C33-5001-37EA-8D1E-5AE0DE6B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Control a Servo Motor (2)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0B46F-0F4C-2D19-740F-FCF14BF0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6346922" cy="4409210"/>
          </a:xfrm>
        </p:spPr>
        <p:txBody>
          <a:bodyPr/>
          <a:lstStyle/>
          <a:p>
            <a:r>
              <a:rPr lang="en-GB" dirty="0">
                <a:latin typeface="Arial"/>
                <a:cs typeface="Arial"/>
              </a:rPr>
              <a:t>Servo motors should have a PWM signal of approximate period 20ms 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Then the width of the high pulse sets the angle that the servo moves to</a:t>
            </a:r>
          </a:p>
          <a:p>
            <a:r>
              <a:rPr lang="en-GB" dirty="0">
                <a:latin typeface="Arial"/>
                <a:cs typeface="Arial"/>
              </a:rPr>
              <a:t>Pulse Widths should be between 1ms and 2ms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E378-2778-2A87-1AC5-2FFC4D64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FBE-88EC-47EC-64D6-C9C36D350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BF67-22BC-E5BB-171D-96B5EF4F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/>
              <a:pPr/>
              <a:t>18</a:t>
            </a:fld>
            <a:endParaRPr lang="en-US" altLang="en-US"/>
          </a:p>
        </p:txBody>
      </p:sp>
      <p:pic>
        <p:nvPicPr>
          <p:cNvPr id="7" name="Picture 7" descr="A diagram of a electrical system">
            <a:extLst>
              <a:ext uri="{FF2B5EF4-FFF2-40B4-BE49-F238E27FC236}">
                <a16:creationId xmlns:a16="http://schemas.microsoft.com/office/drawing/2014/main" id="{89DF960E-394E-297A-8DE4-1A612A6B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763" y="1461028"/>
            <a:ext cx="4832926" cy="324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8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4F0B-CF75-47EA-B914-814A4225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Control a Servo Motor (3)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D9D26-1C3D-B3CE-895F-5750CFAF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We can connect the servo motor directly onto the </a:t>
            </a:r>
            <a:r>
              <a:rPr lang="en-GB">
                <a:latin typeface="Arial"/>
                <a:cs typeface="Arial"/>
              </a:rPr>
              <a:t>Multifunction shield</a:t>
            </a:r>
          </a:p>
          <a:p>
            <a:r>
              <a:rPr lang="en-GB" dirty="0">
                <a:latin typeface="Arial"/>
                <a:cs typeface="Arial"/>
              </a:rPr>
              <a:t>Connect Red – VCC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Connect Brown – GND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Connect Orange - D8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9787F-8375-B853-4E4C-3CAD31BC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E02AE-2DA2-B69F-AF69-D63C6467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F20D-6884-C06F-2B11-B1CE58E8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/>
              <a:pPr/>
              <a:t>19</a:t>
            </a:fld>
            <a:endParaRPr lang="en-US" altLang="en-US"/>
          </a:p>
        </p:txBody>
      </p:sp>
      <p:pic>
        <p:nvPicPr>
          <p:cNvPr id="7" name="Picture 7" descr="A close up of a circuit board">
            <a:extLst>
              <a:ext uri="{FF2B5EF4-FFF2-40B4-BE49-F238E27FC236}">
                <a16:creationId xmlns:a16="http://schemas.microsoft.com/office/drawing/2014/main" id="{0A422FB8-6943-6C0E-64FF-71E0DA3A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218" y="1872369"/>
            <a:ext cx="3239654" cy="3540444"/>
          </a:xfrm>
          <a:prstGeom prst="rect">
            <a:avLst/>
          </a:prstGeom>
        </p:spPr>
      </p:pic>
      <p:pic>
        <p:nvPicPr>
          <p:cNvPr id="8" name="Picture 8" descr="A hand holding a small blue device">
            <a:extLst>
              <a:ext uri="{FF2B5EF4-FFF2-40B4-BE49-F238E27FC236}">
                <a16:creationId xmlns:a16="http://schemas.microsoft.com/office/drawing/2014/main" id="{CF180B3B-0630-5D2B-699F-B42C38B7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218" y="1871100"/>
            <a:ext cx="2743200" cy="323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93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A67B-99D6-88B3-31A5-1FB8841C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Servo example program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6CA3-9FAC-4F1E-C8A9-AB7EF446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We could modify AVR/Arduino Timer initialisation and use </a:t>
            </a:r>
            <a:r>
              <a:rPr lang="en-GB" dirty="0" err="1">
                <a:latin typeface="Arial"/>
                <a:cs typeface="Arial"/>
              </a:rPr>
              <a:t>AnalogWrite</a:t>
            </a:r>
            <a:r>
              <a:rPr lang="en-GB" dirty="0">
                <a:latin typeface="Arial"/>
                <a:cs typeface="Arial"/>
              </a:rPr>
              <a:t>() to position the servo</a:t>
            </a:r>
          </a:p>
          <a:p>
            <a:r>
              <a:rPr lang="en-GB" dirty="0">
                <a:latin typeface="Arial"/>
                <a:cs typeface="Arial"/>
              </a:rPr>
              <a:t>But Arduino has a library called Servo that makes the servomotor very easy to use</a:t>
            </a:r>
          </a:p>
          <a:p>
            <a:r>
              <a:rPr lang="en-GB" dirty="0">
                <a:latin typeface="Arial"/>
                <a:cs typeface="Arial"/>
              </a:rPr>
              <a:t>See </a:t>
            </a:r>
            <a:r>
              <a:rPr lang="en-GB" dirty="0" err="1">
                <a:latin typeface="Arial"/>
                <a:cs typeface="Arial"/>
              </a:rPr>
              <a:t>servo.ino</a:t>
            </a:r>
            <a:r>
              <a:rPr lang="en-GB" dirty="0">
                <a:latin typeface="Arial"/>
                <a:cs typeface="Arial"/>
              </a:rPr>
              <a:t> and </a:t>
            </a:r>
            <a:r>
              <a:rPr lang="en-GB" dirty="0" err="1">
                <a:latin typeface="Arial"/>
                <a:cs typeface="Arial"/>
              </a:rPr>
              <a:t>ModifiedServo.ino</a:t>
            </a:r>
          </a:p>
          <a:p>
            <a:r>
              <a:rPr lang="en-GB" dirty="0">
                <a:latin typeface="Arial"/>
                <a:cs typeface="Arial"/>
              </a:rPr>
              <a:t>Exercise: try out these programs</a:t>
            </a:r>
          </a:p>
          <a:p>
            <a:r>
              <a:rPr lang="en-GB" dirty="0">
                <a:latin typeface="Arial"/>
                <a:cs typeface="Arial"/>
              </a:rPr>
              <a:t>Modify the sketch (</a:t>
            </a:r>
            <a:r>
              <a:rPr lang="en-GB" dirty="0" err="1">
                <a:latin typeface="Arial"/>
                <a:cs typeface="Arial"/>
              </a:rPr>
              <a:t>ModifiedServo</a:t>
            </a:r>
            <a:r>
              <a:rPr lang="en-GB" dirty="0">
                <a:latin typeface="Arial"/>
                <a:cs typeface="Arial"/>
              </a:rPr>
              <a:t>) so that the user inputs an angle to set the servo position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94469-4E13-03CE-F519-551433A1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0883-AC6A-28AB-B11C-E0E5389D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8D6C7-60DE-66FA-11B2-867D1AF2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130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240E-8498-2830-4438-D1A5BE56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Servo Motor, Multifunction Shield and OLED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0A56-1866-CCE2-D74C-DE0F8C61F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Start with the </a:t>
            </a:r>
            <a:r>
              <a:rPr lang="en-GB" err="1">
                <a:latin typeface="Arial"/>
                <a:cs typeface="Arial"/>
              </a:rPr>
              <a:t>servo.ino</a:t>
            </a:r>
            <a:r>
              <a:rPr lang="en-GB">
                <a:latin typeface="Arial"/>
                <a:cs typeface="Arial"/>
              </a:rPr>
              <a:t> example</a:t>
            </a:r>
          </a:p>
          <a:p>
            <a:r>
              <a:rPr lang="en-GB" dirty="0">
                <a:latin typeface="Arial"/>
                <a:cs typeface="Arial"/>
              </a:rPr>
              <a:t>Modify the program so that it displays the angles when </a:t>
            </a:r>
            <a:endParaRPr lang="en-GB" dirty="0"/>
          </a:p>
          <a:p>
            <a:r>
              <a:rPr lang="en-GB" err="1">
                <a:latin typeface="Arial"/>
                <a:cs typeface="Arial"/>
              </a:rPr>
              <a:t>i</a:t>
            </a:r>
            <a:r>
              <a:rPr lang="en-GB">
                <a:latin typeface="Arial"/>
                <a:cs typeface="Arial"/>
              </a:rPr>
              <a:t> == 10 </a:t>
            </a:r>
          </a:p>
          <a:p>
            <a:r>
              <a:rPr lang="en-GB" dirty="0" err="1">
                <a:latin typeface="Arial"/>
                <a:cs typeface="Arial"/>
              </a:rPr>
              <a:t>i</a:t>
            </a:r>
            <a:r>
              <a:rPr lang="en-GB" dirty="0">
                <a:latin typeface="Arial"/>
                <a:cs typeface="Arial"/>
              </a:rPr>
              <a:t> == 45</a:t>
            </a:r>
          </a:p>
          <a:p>
            <a:r>
              <a:rPr lang="en-GB" err="1">
                <a:latin typeface="Arial"/>
                <a:cs typeface="Arial"/>
              </a:rPr>
              <a:t>i</a:t>
            </a:r>
            <a:r>
              <a:rPr lang="en-GB">
                <a:latin typeface="Arial"/>
                <a:cs typeface="Arial"/>
              </a:rPr>
              <a:t> == 90</a:t>
            </a:r>
          </a:p>
          <a:p>
            <a:r>
              <a:rPr lang="en-GB" dirty="0">
                <a:latin typeface="Arial"/>
                <a:cs typeface="Arial"/>
              </a:rPr>
              <a:t>First on the Serial port </a:t>
            </a:r>
          </a:p>
          <a:p>
            <a:r>
              <a:rPr lang="en-GB" dirty="0">
                <a:latin typeface="Arial"/>
                <a:cs typeface="Arial"/>
              </a:rPr>
              <a:t>Then on the OLED display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F310E-01DF-D9C1-D5F8-A77CBAA1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48D2-D68E-6BC9-A0A8-52B720A7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7EC8-9485-D4D6-E0CB-BE4B005D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11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A7EF-7BE5-1EF5-EDB1-A1721FE9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Motor Speed, OLED, Multifunction Shield (1)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9B72-2D3C-CB0A-E2A2-1FE24847D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Disconnect the USB cable before proceeding</a:t>
            </a:r>
          </a:p>
          <a:p>
            <a:r>
              <a:rPr lang="en-GB" dirty="0"/>
              <a:t>Disconnect the Multifunction Shield and replace with the Motor Shield</a:t>
            </a:r>
          </a:p>
          <a:p>
            <a:r>
              <a:rPr lang="en-GB" dirty="0"/>
              <a:t>Place the Multifunction Shield above the Motor Shied</a:t>
            </a:r>
          </a:p>
          <a:p>
            <a:r>
              <a:rPr lang="en-GB" dirty="0"/>
              <a:t>(Be sure to connect the Power Supply)</a:t>
            </a:r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6CDAC-7263-9577-AEC7-E5C98534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6B8A-186C-E64C-7C8D-D60E48C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3C57-E594-A2DD-D9D2-DE1D7065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038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A7EF-7BE5-1EF5-EDB1-A1721FE9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Motor Speed, OLED, Multifunction Shield (2)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9B72-2D3C-CB0A-E2A2-1FE24847D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(sketch) that shows the temperature, humidity and Motor Speed on the OLED display</a:t>
            </a:r>
          </a:p>
          <a:p>
            <a:r>
              <a:rPr lang="en-GB" dirty="0">
                <a:latin typeface="Arial"/>
                <a:cs typeface="Arial"/>
              </a:rPr>
              <a:t>Motor Speed should be controlled by the state of the SW1 switch</a:t>
            </a:r>
          </a:p>
          <a:p>
            <a:r>
              <a:rPr lang="en-GB" dirty="0">
                <a:latin typeface="Arial"/>
                <a:cs typeface="Arial"/>
              </a:rPr>
              <a:t>SW1=1, Motor at 20% 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SW1=0, Motor at 50%</a:t>
            </a:r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6CDAC-7263-9577-AEC7-E5C98534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6B8A-186C-E64C-7C8D-D60E48C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3C57-E594-A2DD-D9D2-DE1D7065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297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A7EF-7BE5-1EF5-EDB1-A1721FE9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Motor Speed, OLED, Multifunction Shield (3)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9B72-2D3C-CB0A-E2A2-1FE24847D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(sketch) that shows the temperature, humidity and Motor Speed on the OLED display</a:t>
            </a:r>
          </a:p>
          <a:p>
            <a:r>
              <a:rPr lang="en-GB" dirty="0"/>
              <a:t>Motor Speed should be controlled by the state of the LDR value</a:t>
            </a:r>
          </a:p>
          <a:p>
            <a:r>
              <a:rPr lang="en-GB" dirty="0"/>
              <a:t>Bright: Motor Speed = 50%</a:t>
            </a:r>
          </a:p>
          <a:p>
            <a:r>
              <a:rPr lang="en-GB" dirty="0"/>
              <a:t>Dark: </a:t>
            </a:r>
            <a:r>
              <a:rPr lang="en-GB"/>
              <a:t>Motor Speed = 25%</a:t>
            </a:r>
            <a:endParaRPr lang="en-GB" dirty="0"/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6CDAC-7263-9577-AEC7-E5C98534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6B8A-186C-E64C-7C8D-D60E48C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3C57-E594-A2DD-D9D2-DE1D7065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19655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1258</Words>
  <Application>Microsoft Office PowerPoint</Application>
  <PresentationFormat>Widescreen</PresentationFormat>
  <Paragraphs>194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Times New Roman</vt:lpstr>
      <vt:lpstr>Wingdings</vt:lpstr>
      <vt:lpstr>Tahoma</vt:lpstr>
      <vt:lpstr>Arial</vt:lpstr>
      <vt:lpstr>SimSun</vt:lpstr>
      <vt:lpstr>Edge</vt:lpstr>
      <vt:lpstr>Blends</vt:lpstr>
      <vt:lpstr>Introduction to Embedded Systems using Arduino</vt:lpstr>
      <vt:lpstr>Synchronous Serial Interfaces</vt:lpstr>
      <vt:lpstr>Synchronous Serial Interfaces</vt:lpstr>
      <vt:lpstr>I2C – Two Wire Interface</vt:lpstr>
      <vt:lpstr>I2C Data Flow</vt:lpstr>
      <vt:lpstr>I2C Operation</vt:lpstr>
      <vt:lpstr>I2C in Arduino</vt:lpstr>
      <vt:lpstr>OLED SSD1306 display using I2C</vt:lpstr>
      <vt:lpstr>Shield I2C pins</vt:lpstr>
      <vt:lpstr>Final Connection</vt:lpstr>
      <vt:lpstr>SSD1306 OLED Display Library</vt:lpstr>
      <vt:lpstr>Adafruit OLED Graphics (1)</vt:lpstr>
      <vt:lpstr>Adafruit OLED Graphics (2)</vt:lpstr>
      <vt:lpstr>Adafruit Library for text (print and println)</vt:lpstr>
      <vt:lpstr>A smaller but less powerful library</vt:lpstr>
      <vt:lpstr>AvrI2c_128x32 Compiled</vt:lpstr>
      <vt:lpstr>Control a Servo Motor (1)</vt:lpstr>
      <vt:lpstr>Control a Servo Motor (2)</vt:lpstr>
      <vt:lpstr>Control a Servo Motor (3)</vt:lpstr>
      <vt:lpstr>Servo example program</vt:lpstr>
      <vt:lpstr>Servo Motor, Multifunction Shield and OLED</vt:lpstr>
      <vt:lpstr>Motor Speed, OLED, Multifunction Shield (1)</vt:lpstr>
      <vt:lpstr>Motor Speed, OLED, Multifunction Shield (2)</vt:lpstr>
      <vt:lpstr>Motor Speed, OLED, Multifunction Shield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ET4047 Embedded Software</dc:title>
  <dc:creator>Ciaran MacNamee</dc:creator>
  <cp:lastModifiedBy>Ciaran MacNamee</cp:lastModifiedBy>
  <cp:revision>212</cp:revision>
  <dcterms:created xsi:type="dcterms:W3CDTF">2020-09-17T11:39:01Z</dcterms:created>
  <dcterms:modified xsi:type="dcterms:W3CDTF">2026-04-17T15:51:38Z</dcterms:modified>
</cp:coreProperties>
</file>